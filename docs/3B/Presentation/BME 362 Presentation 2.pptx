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IBM Plex Sans"/>
      <p:regular r:id="rId8"/>
      <p:bold r:id="rId9"/>
      <p:italic r:id="rId10"/>
      <p:boldItalic r:id="rId11"/>
    </p:embeddedFont>
    <p:embeddedFont>
      <p:font typeface="Roboto"/>
      <p:regular r:id="rId12"/>
      <p:bold r:id="rId13"/>
      <p:italic r:id="rId14"/>
      <p:boldItalic r:id="rId15"/>
    </p:embeddedFont>
    <p:embeddedFont>
      <p:font typeface="Montserrat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  <p:embeddedFont>
      <p:font typeface="Arial Narrow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85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85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ArialNarrow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BMPlexSans-bold.fntdata"/><Relationship Id="rId26" Type="http://schemas.openxmlformats.org/officeDocument/2006/relationships/font" Target="fonts/ArialNarrow-italic.fntdata"/><Relationship Id="rId25" Type="http://schemas.openxmlformats.org/officeDocument/2006/relationships/font" Target="fonts/ArialNarrow-bold.fntdata"/><Relationship Id="rId27" Type="http://schemas.openxmlformats.org/officeDocument/2006/relationships/font" Target="fonts/ArialNarrow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IBMPlexSans-regular.fntdata"/><Relationship Id="rId11" Type="http://schemas.openxmlformats.org/officeDocument/2006/relationships/font" Target="fonts/IBMPlexSans-boldItalic.fntdata"/><Relationship Id="rId10" Type="http://schemas.openxmlformats.org/officeDocument/2006/relationships/font" Target="fonts/IBMPlexSans-italic.fntdata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19" Type="http://schemas.openxmlformats.org/officeDocument/2006/relationships/font" Target="fonts/Montserrat-boldItalic.fntdata"/><Relationship Id="rId18" Type="http://schemas.openxmlformats.org/officeDocument/2006/relationships/font" Target="fonts/Montserra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877a58c8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877a58c8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877a58c8f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9877a58c8f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canada.ca/en/public-health/services/reports-publications/health-promotion-chronic-disease-prevention-canada-research-policy-practice/vol-44-no-11-12-2024/temporal-trends-characteristics-fall-related-deaths-hospitalizations-emergency-department-visits-older-adults-canada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title"/>
          </p:nvPr>
        </p:nvSpPr>
        <p:spPr>
          <a:xfrm>
            <a:off x="1098700" y="237125"/>
            <a:ext cx="7989900" cy="10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61" u="sng">
                <a:latin typeface="Arial Narrow"/>
                <a:ea typeface="Arial Narrow"/>
                <a:cs typeface="Arial Narrow"/>
                <a:sym typeface="Arial Narrow"/>
              </a:rPr>
              <a:t>Needs Statement:</a:t>
            </a:r>
            <a:r>
              <a:rPr b="1" lang="en-GB" sz="1661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endParaRPr b="1" sz="1661"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38">
                <a:latin typeface="Arial"/>
                <a:ea typeface="Arial"/>
                <a:cs typeface="Arial"/>
                <a:sym typeface="Arial"/>
              </a:rPr>
              <a:t>A way to reduce time-to-assist for unwitnessed falls for elderly individuals living in long term care homes that reduces the severity of adverse events and maximizes post-incident recovery outcomes </a:t>
            </a:r>
            <a:endParaRPr b="1" sz="1438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3"/>
          <p:cNvSpPr txBox="1"/>
          <p:nvPr/>
        </p:nvSpPr>
        <p:spPr>
          <a:xfrm>
            <a:off x="203725" y="1428725"/>
            <a:ext cx="15090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Background Information: 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1718013" y="2587575"/>
            <a:ext cx="38283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-140799" lvl="0" marL="269999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Char char="●"/>
            </a:pPr>
            <a:r>
              <a:rPr lang="en-GB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Residents: fear, </a:t>
            </a:r>
            <a:r>
              <a:rPr lang="en-GB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embarrassment</a:t>
            </a:r>
            <a:r>
              <a:rPr lang="en-GB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, privacy concern, faster discovery [4] [5]</a:t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269999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40799" lvl="0" marL="269999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Char char="●"/>
            </a:pPr>
            <a:r>
              <a:rPr lang="en-GB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PSW/nurses: unwitnessed events, alarm fatigue, SOS triaging </a:t>
            </a:r>
            <a:r>
              <a:rPr lang="en-GB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ineffectiveness [5]</a:t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7" name="Google Shape;137;p13"/>
          <p:cNvSpPr txBox="1"/>
          <p:nvPr/>
        </p:nvSpPr>
        <p:spPr>
          <a:xfrm>
            <a:off x="285800" y="2587563"/>
            <a:ext cx="13449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Stakeholder Insights: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8" name="Google Shape;138;p13"/>
          <p:cNvSpPr txBox="1"/>
          <p:nvPr/>
        </p:nvSpPr>
        <p:spPr>
          <a:xfrm>
            <a:off x="1740175" y="1350000"/>
            <a:ext cx="3567900" cy="1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-140799" lvl="0" marL="269999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Char char="●"/>
            </a:pPr>
            <a:r>
              <a:rPr lang="en-GB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Falls are the leading cause of injury hospitalizations and injury deaths among adults ≥65 [1]</a:t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269999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40799" lvl="0" marL="269999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Char char="●"/>
            </a:pPr>
            <a:r>
              <a:rPr lang="en-GB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Lighting is often below recommendations in resident rooms and especially bathrooms; lower lighting correlates with higher fall rates [2] [3]</a:t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269999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40799" lvl="0" marL="269999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Char char="●"/>
            </a:pPr>
            <a:r>
              <a:rPr lang="en-GB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lower lighting correlates with higher fall rates</a:t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269999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34449" lvl="0" marL="269999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IBM Plex Sans"/>
              <a:buChar char="●"/>
            </a:pPr>
            <a:r>
              <a:rPr lang="en-GB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LTC residents experience high annual fall incidence in nursing home</a:t>
            </a:r>
            <a:r>
              <a:rPr lang="en-GB" sz="7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[2]</a:t>
            </a:r>
            <a:endParaRPr sz="7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9" name="Google Shape;139;p13"/>
          <p:cNvSpPr txBox="1"/>
          <p:nvPr/>
        </p:nvSpPr>
        <p:spPr>
          <a:xfrm>
            <a:off x="76525" y="3301950"/>
            <a:ext cx="17634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Competitor Analysis Trends:</a:t>
            </a:r>
            <a:endParaRPr sz="11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0" name="Google Shape;140;p13"/>
          <p:cNvSpPr txBox="1"/>
          <p:nvPr/>
        </p:nvSpPr>
        <p:spPr>
          <a:xfrm>
            <a:off x="1740175" y="3301950"/>
            <a:ext cx="2256300" cy="12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-140799" lvl="0" marL="269999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Char char="●"/>
            </a:pPr>
            <a:r>
              <a:rPr lang="en-GB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False </a:t>
            </a:r>
            <a:r>
              <a:rPr lang="en-GB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Positives</a:t>
            </a:r>
            <a:r>
              <a:rPr lang="en-GB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[6] </a:t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40799" lvl="0" marL="269999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Char char="●"/>
            </a:pPr>
            <a:r>
              <a:rPr lang="en-GB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High Cost [6] </a:t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40799" lvl="0" marL="269999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Char char="●"/>
            </a:pPr>
            <a:r>
              <a:rPr lang="en-GB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Poor Ergonomics [7]</a:t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269999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40799" lvl="0" marL="269999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Char char="●"/>
            </a:pPr>
            <a:r>
              <a:rPr lang="en-GB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Privacy Concern</a:t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269999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40799" lvl="0" marL="269999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Char char="●"/>
            </a:pPr>
            <a:r>
              <a:rPr lang="en-GB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Ineffective</a:t>
            </a:r>
            <a:r>
              <a:rPr lang="en-GB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in certain </a:t>
            </a:r>
            <a:r>
              <a:rPr lang="en-GB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environments [7]</a:t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269999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41" name="Google Shape;14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3650" y="1294613"/>
            <a:ext cx="3105150" cy="146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3" title="Gemini_Generated_Image_ebp4wpebp4wpebp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3650" y="2911313"/>
            <a:ext cx="3105151" cy="1440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"/>
          <p:cNvSpPr txBox="1"/>
          <p:nvPr>
            <p:ph type="title"/>
          </p:nvPr>
        </p:nvSpPr>
        <p:spPr>
          <a:xfrm>
            <a:off x="1201500" y="229175"/>
            <a:ext cx="2053800" cy="5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References</a:t>
            </a:r>
            <a:endParaRPr/>
          </a:p>
        </p:txBody>
      </p:sp>
      <p:sp>
        <p:nvSpPr>
          <p:cNvPr id="148" name="Google Shape;148;p14"/>
          <p:cNvSpPr txBox="1"/>
          <p:nvPr>
            <p:ph idx="1" type="body"/>
          </p:nvPr>
        </p:nvSpPr>
        <p:spPr>
          <a:xfrm>
            <a:off x="1201500" y="779250"/>
            <a:ext cx="7046400" cy="35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[1]</a:t>
            </a:r>
            <a:r>
              <a:rPr lang="en-GB" sz="1050"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/>
              </a:rPr>
              <a:t>https://www.canada.ca/en/public-health/services/reports-publications/health-promotion-chronic-disease-prevention-canada-research-policy-practice/vol-44-no-11-12-2024/temporal-trends-characteristics-fall-related-deaths-hospitalizations-emergency-department-visits-older-adults-canada.html</a:t>
            </a:r>
            <a:r>
              <a:rPr lang="en-GB" sz="11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Times New Roman"/>
                <a:ea typeface="Times New Roman"/>
                <a:cs typeface="Times New Roman"/>
                <a:sym typeface="Times New Roman"/>
              </a:rPr>
              <a:t>[2] </a:t>
            </a:r>
            <a:r>
              <a:rPr lang="en-GB" sz="1050">
                <a:latin typeface="Roboto"/>
                <a:ea typeface="Roboto"/>
                <a:cs typeface="Roboto"/>
                <a:sym typeface="Roboto"/>
              </a:rPr>
              <a:t>J. Kubitza, I. T. Schneider, and B. Reuschenbach, “Concept of the term long lie: A scoping review,” European review of aging and physical activity : official journal of the European Group for Research into Elderly and Physical Activity, https://pmc.ncbi.nlm.nih.gov/articles/PMC10463813/ (accessed Nov. 3, 2025).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Times New Roman"/>
                <a:ea typeface="Times New Roman"/>
                <a:cs typeface="Times New Roman"/>
                <a:sym typeface="Times New Roman"/>
              </a:rPr>
              <a:t>[3] </a:t>
            </a:r>
            <a:r>
              <a:rPr lang="en-GB" sz="1050">
                <a:latin typeface="Roboto"/>
                <a:ea typeface="Roboto"/>
                <a:cs typeface="Roboto"/>
                <a:sym typeface="Roboto"/>
              </a:rPr>
              <a:t>Emad Y;Neef SP;Taylor L;Kerse N;Cavadino A;Moyes SA;Comber K;Wu XS;Molloy J;Bacon CJ;, “Shedding light on falls: The effect of lighting levels on fall risk in long-term residential care facilities,” Journal of applied gerontology : the official journal of the Southern Gerontological Society, https://pubmed.ncbi.nlm.nih.gov/39626350/ (accessed Nov. 3, 2025).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Times New Roman"/>
                <a:ea typeface="Times New Roman"/>
                <a:cs typeface="Times New Roman"/>
                <a:sym typeface="Times New Roman"/>
              </a:rPr>
              <a:t>[4] </a:t>
            </a:r>
            <a:r>
              <a:rPr lang="en-GB" sz="1050">
                <a:latin typeface="Roboto"/>
                <a:ea typeface="Roboto"/>
                <a:cs typeface="Roboto"/>
                <a:sym typeface="Roboto"/>
              </a:rPr>
              <a:t>Guidelines for the use of Video Surveillance October 2015, https://www.ipc.on.ca/sites/default/files/legacy/Resources/2015_Guidelines_Surveillance.pdf (accessed Nov. 3, 2025).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Times New Roman"/>
                <a:ea typeface="Times New Roman"/>
                <a:cs typeface="Times New Roman"/>
                <a:sym typeface="Times New Roman"/>
              </a:rPr>
              <a:t>[5] </a:t>
            </a:r>
            <a:r>
              <a:rPr lang="en-GB" sz="1050">
                <a:latin typeface="Roboto"/>
                <a:ea typeface="Roboto"/>
                <a:cs typeface="Roboto"/>
                <a:sym typeface="Roboto"/>
              </a:rPr>
              <a:t>M. Takase, “Falls as the result of interplay between nurses, patient and the environment: Using text-mining to uncover how and why falls happen,” International journal of nursing sciences, https://pmc.ncbi.nlm.nih.gov/articles/PMC9969063/ (accessed Nov. 3, 2025).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Times New Roman"/>
                <a:ea typeface="Times New Roman"/>
                <a:cs typeface="Times New Roman"/>
                <a:sym typeface="Times New Roman"/>
              </a:rPr>
              <a:t>[6 ]Conversation with stakeholder (</a:t>
            </a:r>
            <a:r>
              <a:rPr lang="en-GB" sz="1100">
                <a:latin typeface="Times New Roman"/>
                <a:ea typeface="Times New Roman"/>
                <a:cs typeface="Times New Roman"/>
                <a:sym typeface="Times New Roman"/>
              </a:rPr>
              <a:t>elderly</a:t>
            </a:r>
            <a:r>
              <a:rPr lang="en-GB" sz="1100">
                <a:latin typeface="Times New Roman"/>
                <a:ea typeface="Times New Roman"/>
                <a:cs typeface="Times New Roman"/>
                <a:sym typeface="Times New Roman"/>
              </a:rPr>
              <a:t> fall risk individuals)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Times New Roman"/>
                <a:ea typeface="Times New Roman"/>
                <a:cs typeface="Times New Roman"/>
                <a:sym typeface="Times New Roman"/>
              </a:rPr>
              <a:t>[7] Conversation with stakeholder (personal support workers and nurses at Long Term Care homes)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