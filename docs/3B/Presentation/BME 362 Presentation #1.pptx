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Nunito"/>
      <p:regular r:id="rId8"/>
      <p:bold r:id="rId9"/>
      <p:italic r:id="rId10"/>
      <p:boldItalic r:id="rId11"/>
    </p:embeddedFon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  <p:embeddedFont>
      <p:font typeface="Arial Narrow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Narrow-regular.fntdata"/><Relationship Id="rId11" Type="http://schemas.openxmlformats.org/officeDocument/2006/relationships/font" Target="fonts/Nunito-boldItalic.fntdata"/><Relationship Id="rId22" Type="http://schemas.openxmlformats.org/officeDocument/2006/relationships/font" Target="fonts/ArialNarrow-italic.fntdata"/><Relationship Id="rId10" Type="http://schemas.openxmlformats.org/officeDocument/2006/relationships/font" Target="fonts/Nunito-italic.fntdata"/><Relationship Id="rId21" Type="http://schemas.openxmlformats.org/officeDocument/2006/relationships/font" Target="fonts/ArialNarrow-bold.fntdata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23" Type="http://schemas.openxmlformats.org/officeDocument/2006/relationships/font" Target="fonts/ArialNarrow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Nunito-bold.fntdata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font" Target="fonts/Nuni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965c17a37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965c17a37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965c17a37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965c17a37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pmc.ncbi.nlm.nih.gov/articles/PMC9284880/" TargetMode="External"/><Relationship Id="rId4" Type="http://schemas.openxmlformats.org/officeDocument/2006/relationships/hyperlink" Target="https://doi.org/10.1111/jgs.15304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title"/>
          </p:nvPr>
        </p:nvSpPr>
        <p:spPr>
          <a:xfrm>
            <a:off x="1091750" y="124400"/>
            <a:ext cx="7989900" cy="11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 u="sng">
                <a:latin typeface="Arial Narrow"/>
                <a:ea typeface="Arial Narrow"/>
                <a:cs typeface="Arial Narrow"/>
                <a:sym typeface="Arial Narrow"/>
              </a:rPr>
              <a:t>Needs Statement:</a:t>
            </a:r>
            <a:r>
              <a:rPr b="1" lang="en" sz="155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b="1" sz="155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latin typeface="Arial"/>
                <a:ea typeface="Arial"/>
                <a:cs typeface="Arial"/>
                <a:sym typeface="Arial"/>
              </a:rPr>
              <a:t>A way to address delayed emergency response</a:t>
            </a:r>
            <a:r>
              <a:rPr b="1" lang="en" sz="1550">
                <a:latin typeface="Arial"/>
                <a:ea typeface="Arial"/>
                <a:cs typeface="Arial"/>
                <a:sym typeface="Arial"/>
              </a:rPr>
              <a:t> in</a:t>
            </a:r>
            <a:r>
              <a:rPr b="1" lang="en" sz="1550">
                <a:latin typeface="Arial"/>
                <a:ea typeface="Arial"/>
                <a:cs typeface="Arial"/>
                <a:sym typeface="Arial"/>
              </a:rPr>
              <a:t> elderly individuals who fall without immediate detection that reduces time-to-help, preventing deaths from </a:t>
            </a:r>
            <a:r>
              <a:rPr b="1" lang="en" sz="1550">
                <a:latin typeface="Arial"/>
                <a:ea typeface="Arial"/>
                <a:cs typeface="Arial"/>
                <a:sym typeface="Arial"/>
              </a:rPr>
              <a:t>bleeding, </a:t>
            </a:r>
            <a:endParaRPr b="1" sz="15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latin typeface="Arial"/>
                <a:ea typeface="Arial"/>
                <a:cs typeface="Arial"/>
                <a:sym typeface="Arial"/>
              </a:rPr>
              <a:t>hypothermia, and dehydration</a:t>
            </a:r>
            <a:r>
              <a:rPr b="1" lang="en" sz="1550">
                <a:latin typeface="Arial"/>
                <a:ea typeface="Arial"/>
                <a:cs typeface="Arial"/>
                <a:sym typeface="Arial"/>
              </a:rPr>
              <a:t>.</a:t>
            </a:r>
            <a:endParaRPr b="1" sz="15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>
            <p:ph idx="1" type="body"/>
          </p:nvPr>
        </p:nvSpPr>
        <p:spPr>
          <a:xfrm>
            <a:off x="246150" y="1363300"/>
            <a:ext cx="5004600" cy="3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Nunito"/>
              <a:buChar char="●"/>
            </a:pPr>
            <a:r>
              <a:rPr lang="en" sz="1200">
                <a:latin typeface="Nunito"/>
                <a:ea typeface="Nunito"/>
                <a:cs typeface="Nunito"/>
                <a:sym typeface="Nunito"/>
              </a:rPr>
              <a:t>Approximately 14 million Americans over the age of 65 experience a fall annually [1].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Nunito"/>
              <a:buChar char="●"/>
            </a:pPr>
            <a:r>
              <a:rPr lang="en" sz="1200">
                <a:latin typeface="Nunito"/>
                <a:ea typeface="Nunito"/>
                <a:cs typeface="Nunito"/>
                <a:sym typeface="Nunito"/>
              </a:rPr>
              <a:t>One in eight older individuals who fell have reported lying on the floor for over an hour [2]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Nunito"/>
              <a:buChar char="●"/>
            </a:pPr>
            <a:r>
              <a:rPr lang="en" sz="1200">
                <a:latin typeface="Nunito"/>
                <a:ea typeface="Nunito"/>
                <a:cs typeface="Nunito"/>
                <a:sym typeface="Nunito"/>
              </a:rPr>
              <a:t>In 2015, the U.S. spent an estimated $50 billion in medical costs pertaining to both fatal and nonfatal falls, with this expected to increase as the population continues to age [3].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Nunito"/>
              <a:buChar char="●"/>
            </a:pPr>
            <a:r>
              <a:rPr lang="en" sz="1200">
                <a:latin typeface="Nunito"/>
                <a:ea typeface="Nunito"/>
                <a:cs typeface="Nunito"/>
                <a:sym typeface="Nunito"/>
              </a:rPr>
              <a:t>By the year 2030, the U.S.’ senior care technologies market is projected to reach $43.86 billion; an increasing market and opportunity for adoption [4].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9600" y="1549950"/>
            <a:ext cx="3418224" cy="256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 txBox="1"/>
          <p:nvPr/>
        </p:nvSpPr>
        <p:spPr>
          <a:xfrm>
            <a:off x="5283975" y="1515725"/>
            <a:ext cx="545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[5]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title"/>
          </p:nvPr>
        </p:nvSpPr>
        <p:spPr>
          <a:xfrm>
            <a:off x="1201500" y="229175"/>
            <a:ext cx="2053800" cy="5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1201500" y="950350"/>
            <a:ext cx="7046400" cy="3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[1] Centers for Disease Control and Prevention, “Older adult falls data,”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Older Adult Fall Prevention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, Oct. 28, 2024. https://www.cdc.gov/falls/data-research/index.html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[2] J. Kubitza, M. Haas, L. Keppeler, and B. Reuschenbach, “Therapy options for those affected by a long lie after a fall: A scoping review,” BMC geriatrics, </a:t>
            </a:r>
            <a:r>
              <a:rPr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https://pmc.ncbi.nlm.nih.gov/articles/PMC9284880/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(accessed Oct. 6, 2025).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[3] C. S. Florence, G. Bergen, A. Atherly, E. Burns, J. Stevens, and C. Drake, “Medical Costs of Fatal and Nonfatal Falls in Older Adults,” </a:t>
            </a:r>
            <a:r>
              <a:rPr i="1" lang="en" sz="1200">
                <a:latin typeface="Times New Roman"/>
                <a:ea typeface="Times New Roman"/>
                <a:cs typeface="Times New Roman"/>
                <a:sym typeface="Times New Roman"/>
              </a:rPr>
              <a:t>Journal of the American Geriatrics Society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, vol. 66, no. 4, pp. 693–698, Mar. 2019, doi: </a:t>
            </a:r>
            <a:r>
              <a:rPr lang="en" sz="1200" u="sng"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https://doi.org/10.1111/jgs.15304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[4] R. and, “Senior Care Technologies Market - Forecasts from 2025 to 2030,” Researchandmarkets.com, 2025.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https://www.researchandmarkets.com/reports/5926867/senior-care-technologies-market-forecasts?srsltid=AfmBOoqjPL22tO8ABvKK583hOHbJpyJJWzrhCc8Qv2LZ5BrxN4LKXYRh (accessed Oct. 07, 2025).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[5] 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rehabmagazine, “Connecting the fall prevention dots with Loop - Rehab &amp; Community Care Medicine Magazine,” </a:t>
            </a:r>
            <a:r>
              <a:rPr i="1" lang="en" sz="1100">
                <a:latin typeface="Times New Roman"/>
                <a:ea typeface="Times New Roman"/>
                <a:cs typeface="Times New Roman"/>
                <a:sym typeface="Times New Roman"/>
              </a:rPr>
              <a:t>Rehab &amp; Community Care Medicine Magazine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, Dec. 12, 2023. https://www.rehabmagazine.ca/connecting-the-fall-prevention-dots-with-loop/ (accessed Oct. 07, 2025).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