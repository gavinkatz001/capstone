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IBM Plex Sans"/>
      <p:regular r:id="rId9"/>
      <p:bold r:id="rId10"/>
      <p:italic r:id="rId11"/>
      <p:boldItalic r:id="rId12"/>
    </p:embeddedFont>
    <p:embeddedFont>
      <p:font typeface="Nunito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Arial Narrow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BMPlexSans-regular.fntdata"/><Relationship Id="rId26" Type="http://schemas.openxmlformats.org/officeDocument/2006/relationships/font" Target="fonts/ArialNarrow-bold.fntdata"/><Relationship Id="rId25" Type="http://schemas.openxmlformats.org/officeDocument/2006/relationships/font" Target="fonts/ArialNarrow-regular.fntdata"/><Relationship Id="rId28" Type="http://schemas.openxmlformats.org/officeDocument/2006/relationships/font" Target="fonts/ArialNarrow-boldItalic.fntdata"/><Relationship Id="rId27" Type="http://schemas.openxmlformats.org/officeDocument/2006/relationships/font" Target="fonts/ArialNarrow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IBMPlexSans-italic.fntdata"/><Relationship Id="rId10" Type="http://schemas.openxmlformats.org/officeDocument/2006/relationships/font" Target="fonts/IBMPlexSans-bold.fntdata"/><Relationship Id="rId13" Type="http://schemas.openxmlformats.org/officeDocument/2006/relationships/font" Target="fonts/Nunito-regular.fntdata"/><Relationship Id="rId12" Type="http://schemas.openxmlformats.org/officeDocument/2006/relationships/font" Target="fonts/IBMPlexSans-boldItalic.fntdata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Nunito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131532e24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131532e24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131532e24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131532e24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131532e24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131532e24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i.org/10.1186/1475-925x-12-66" TargetMode="External"/><Relationship Id="rId4" Type="http://schemas.openxmlformats.org/officeDocument/2006/relationships/hyperlink" Target="https://patentpc.com/blog/wearable-health-tech-costs-what-consumers-pa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1076875" y="179375"/>
            <a:ext cx="8131500" cy="14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96" u="sng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Needs Statement:</a:t>
            </a:r>
            <a:r>
              <a:rPr b="1" lang="en-GB" sz="1896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b="1" sz="1896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61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38">
                <a:solidFill>
                  <a:srgbClr val="FFFFFF"/>
                </a:solidFill>
              </a:rPr>
              <a:t>A way to reduce time-to-assist for unwitnessed falls for elderly individuals living in long term care homes that reduces the severity of adverse events and maximizes post-incident recovery outcomes </a:t>
            </a:r>
            <a:endParaRPr b="1" sz="1438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128113" y="1427213"/>
            <a:ext cx="1509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Background Information: 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637125" y="1375729"/>
            <a:ext cx="3675000" cy="12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14714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BM Plex Sans"/>
              <a:buChar char="●"/>
            </a:pPr>
            <a:r>
              <a:rPr lang="en-GB"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Falls are the leading cause of injury hospitalizations and injury deaths among adults ≥65 [1]</a:t>
            </a:r>
            <a:endParaRPr sz="9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714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BM Plex Sans"/>
              <a:buChar char="●"/>
            </a:pPr>
            <a:r>
              <a:rPr lang="en-GB" sz="9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Approximately 14 million Americans over the age of 65 experience a fall annually [2].</a:t>
            </a:r>
            <a:endParaRPr sz="9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3444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BM Plex Sans"/>
              <a:buChar char="●"/>
            </a:pPr>
            <a:r>
              <a:rPr lang="en-GB"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LTC residents experience high annual fall incidence in nursing home</a:t>
            </a:r>
            <a:r>
              <a:rPr lang="en-GB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[3]</a:t>
            </a:r>
            <a:endParaRPr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34449" lvl="0" marL="269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BM Plex Sans"/>
              <a:buChar char="●"/>
            </a:pPr>
            <a:r>
              <a:rPr lang="en-GB" sz="9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By the year 2030, the U.S.’ senior care technologies market is projected to reach $43.86 billion, an increasing market and opportunity for adoption [4]</a:t>
            </a:r>
            <a:r>
              <a:rPr lang="en-GB" sz="1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9038" y="1491575"/>
            <a:ext cx="31051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 title="Gemini_Generated_Image_ebp4wpebp4wpebp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9038" y="3108275"/>
            <a:ext cx="3105151" cy="1440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/>
          <p:nvPr/>
        </p:nvSpPr>
        <p:spPr>
          <a:xfrm>
            <a:off x="218213" y="3185513"/>
            <a:ext cx="1509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Major Project Objectives: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1637125" y="3185537"/>
            <a:ext cx="32076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15349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BM Plex Sans"/>
              <a:buChar char="●"/>
            </a:pPr>
            <a:r>
              <a:rPr lang="en-GB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Reduce latency between detection and notification alert</a:t>
            </a:r>
            <a:endParaRPr sz="10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5349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BM Plex Sans"/>
              <a:buChar char="●"/>
            </a:pPr>
            <a:r>
              <a:rPr lang="en-GB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Increase fall </a:t>
            </a:r>
            <a:r>
              <a:rPr lang="en-GB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detection</a:t>
            </a:r>
            <a:r>
              <a:rPr lang="en-GB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accuracy </a:t>
            </a:r>
            <a:endParaRPr sz="10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53499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BM Plex Sans"/>
              <a:buChar char="●"/>
            </a:pPr>
            <a:r>
              <a:rPr lang="en-GB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Reduce lie time</a:t>
            </a:r>
            <a:endParaRPr sz="10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1143425" y="333350"/>
            <a:ext cx="77640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Critical Requirements, Functions, and Their Associated Specific</a:t>
            </a:r>
            <a:endParaRPr/>
          </a:p>
        </p:txBody>
      </p:sp>
      <p:pic>
        <p:nvPicPr>
          <p:cNvPr id="146" name="Google Shape;146;p14"/>
          <p:cNvPicPr preferRelativeResize="0"/>
          <p:nvPr/>
        </p:nvPicPr>
        <p:blipFill rotWithShape="1">
          <a:blip r:embed="rId3">
            <a:alphaModFix/>
          </a:blip>
          <a:srcRect b="0" l="1107" r="0" t="744"/>
          <a:stretch/>
        </p:blipFill>
        <p:spPr>
          <a:xfrm>
            <a:off x="0" y="1390350"/>
            <a:ext cx="9144002" cy="3673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4"/>
          <p:cNvSpPr txBox="1"/>
          <p:nvPr/>
        </p:nvSpPr>
        <p:spPr>
          <a:xfrm>
            <a:off x="3275125" y="4783450"/>
            <a:ext cx="641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[5][7]</a:t>
            </a:r>
            <a:r>
              <a:rPr lang="en-GB" sz="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[8]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6776150" y="4820400"/>
            <a:ext cx="76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[5]</a:t>
            </a:r>
            <a:r>
              <a:rPr lang="en-GB" sz="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[10][11]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7888850" y="4820400"/>
            <a:ext cx="641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[9]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2370350" y="4783450"/>
            <a:ext cx="641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[5][6][7]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6094888" y="4783450"/>
            <a:ext cx="641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[5][9]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8578475" y="4604275"/>
            <a:ext cx="641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[5][9]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5206800" y="4783450"/>
            <a:ext cx="641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[5]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type="title"/>
          </p:nvPr>
        </p:nvSpPr>
        <p:spPr>
          <a:xfrm>
            <a:off x="3706500" y="149175"/>
            <a:ext cx="1731000" cy="5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References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1086325" y="628175"/>
            <a:ext cx="78774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 X. Yao, A. S. Champagne, S. R. McFaull, and W. Thompson, “Temporal trends and characteristics of fall-related deaths, hospitalizations and emergency department visits among older adults in Canada,” </a:t>
            </a:r>
            <a:r>
              <a:rPr i="1"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Promotion and Chronic Disease Prevention in Canada</a:t>
            </a: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44, no. 11/12, pp. 482–487, Nov. 2024, doi: https://doi.org/10.24095/hpcdp.44.11/12.04.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Centers for Disease Control and Prevention, “Older adult falls data,” Older Adult Fall Prevention, Oct. 28, 2024. https://www.cdc.gov/falls/data-research/index.html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J. Kubitza, I. T. Schneider, and B. Reuschenbach, “Concept of the term long lie: A scoping review,” European review of aging and physical activity : official journal of the European Group for Research into Elderly and Physical Activity, https://pmc.ncbi.nlm.nih.gov/articles/PMC10463813/ (accessed Nov. 3, 2025). 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R. and, “Senior Care Technologies Market - Forecasts from 2025 to 2030,” Researchandmarkets.com, 2025. https://www.researchandmarkets.com/reports/5926867/senior-care-technologies-market-forecasts?srsltid=AfmBOoqjPL22tO8ABvKK583hOHbJpyJJWzrhCc8Qv2LZ5BrxN4LKXYRh (accessed Oct. 07, 2025).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Engineers </a:t>
            </a: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at miAlert (geriatric healthcare company), who provided insight on user needs, engineering requirements and specifications (product weights, false/true positive rates, technological issues) 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Residents from Scarborough Retirement Residence,  providing insight on various user needs pertaining to the patient (comfortability, etc.)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Staff (Caregivers) from Scarborough Retirement Residence, providing insight on various user needs (fatigue, alarm rates, etc.)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S. Colaianni, “5 Best Medical Alert Systems of 2025,” </a:t>
            </a:r>
            <a:r>
              <a:rPr i="1"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Ncoa.org</a:t>
            </a: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Jul. 25, 2025. https://www.ncoa.org/product-resources/medical-alert-systems/best-medical-alert-systems/ (accessed Nov. 05, 2025).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</a:t>
            </a: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 Igual, C. Medrano, and I. Plaza, “Challenges, issues and trends in fall detection systems,” </a:t>
            </a:r>
            <a:r>
              <a:rPr i="1"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BioMedical Engineering OnLine</a:t>
            </a: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12, no. 1, p. 66, 2013, doi: </a:t>
            </a:r>
            <a:r>
              <a:rPr lang="en-GB" sz="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https://doi.org/10.1186/1475-925x-12-66</a:t>
            </a: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Staff (Administrative/Care Director) from Scarborough Retirement Residence, providing insight on various user needs (fatigue, alarm rates, etc.)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B. Tran, “Wearable Health Tech Costs: What Consumers Pay,” </a:t>
            </a:r>
            <a:r>
              <a:rPr i="1"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PatentPC</a:t>
            </a:r>
            <a:r>
              <a:rPr lang="en-GB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Mar. 09, 2025. </a:t>
            </a:r>
            <a:r>
              <a:rPr lang="en-GB" sz="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https://patentpc.com/blog/wearable-health-tech-costs-what-consumers-pay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